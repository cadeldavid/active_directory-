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220CEF-997D-4071-A4F3-7BB452DB0231}" v="98" dt="2026-07-17T07:34:13.984"/>
    <p1510:client id="{D73F5ACB-F29D-4B8B-9C70-BD5C09343825}" v="17" dt="2026-07-17T07:14:26.074"/>
    <p1510:client id="{D9166106-F91F-4DDD-AAA8-A8D4327575D0}" v="1" dt="2026-07-17T07:15:31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D0080-3671-454C-9F4F-4C207B3B0919}" type="datetimeFigureOut">
              <a:t>17/07/2026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BBC7E-88B2-422E-8B71-9C3D03371FD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36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Windows Server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· Relação de Confiança · DNS · DHCP · Partilhas SMB e NTFS · GPO · Validação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1280160" cy="54864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015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de implementação (capturas de ecrã passo a passo)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486400" cy="1600200"/>
          </a:xfrm>
          <a:prstGeom prst="rect">
            <a:avLst/>
          </a:prstGeom>
          <a:solidFill>
            <a:srgbClr val="1E2E4A"/>
          </a:solidFill>
          <a:ln w="12700">
            <a:solidFill>
              <a:srgbClr val="2C3F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160520"/>
            <a:ext cx="73152" cy="160020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315968"/>
            <a:ext cx="50292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Nome: David Cadel</a:t>
            </a:r>
            <a:br>
              <a:rPr lang="en-US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700" b="1">
                <a:solidFill>
                  <a:srgbClr val="FFFFFF"/>
                </a:solidFill>
                <a:ea typeface="Calibri"/>
                <a:cs typeface="Calibri"/>
              </a:rPr>
              <a:t>n: 2025103</a:t>
            </a:r>
          </a:p>
        </p:txBody>
      </p:sp>
      <p:sp>
        <p:nvSpPr>
          <p:cNvPr id="10" name="Text 8"/>
          <p:cNvSpPr/>
          <p:nvPr/>
        </p:nvSpPr>
        <p:spPr>
          <a:xfrm>
            <a:off x="1097280" y="47000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Cibersegurança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0840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Curricular: ASI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ISTEC · Instituto Superior de Tecnologias Avançadas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EVIDÊNCIAS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do enunciado e cobertura neste deck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90472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Topologia da infraestrutura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24812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8516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Active Directory (OUs, utilizadores e grupos)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0" y="18516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359152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286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Relação de confiança entre florestas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0" y="2286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93492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7203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DNS (Forwarders)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0" y="27203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227832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154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DHCP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0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3662172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5890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GPOs · Partilhas SMB e permissões NTFS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0" y="35890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096512"/>
            <a:ext cx="164592" cy="164592"/>
          </a:xfrm>
          <a:prstGeom prst="ellipse">
            <a:avLst/>
          </a:prstGeom>
          <a:solidFill>
            <a:srgbClr val="C7CCD3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023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File Screening · Windows Server Backup · Restauro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0" y="4023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0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incluído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4530852"/>
            <a:ext cx="164592" cy="164592"/>
          </a:xfrm>
          <a:prstGeom prst="ellipse">
            <a:avLst/>
          </a:prstGeom>
          <a:solidFill>
            <a:srgbClr val="C7CCD3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4577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Hyper-V Replica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0" y="44577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0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incluído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965192"/>
            <a:ext cx="164592" cy="164592"/>
          </a:xfrm>
          <a:prstGeom prst="ellipse">
            <a:avLst/>
          </a:prstGeom>
          <a:solidFill>
            <a:srgbClr val="C7CCD3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" y="48920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Live Migration entre hosts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26880" y="4892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0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incluído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" y="5399532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53263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Validação final dos serviços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6880" y="53263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" y="5833872"/>
            <a:ext cx="164592" cy="164592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" y="5760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Consolas de gestão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26880" y="5760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TOPOLOGIA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da Infraestrutura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PC01 (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cliente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autentica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no DC01 (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controlador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domínio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principal); DC02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assegura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failover e DC03 server 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remoto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, com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replicação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entre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controladores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acesso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à Internet via gateway GW01.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rede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30A5AD-92F8-0482-49C5-28C9B586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0106"/>
            <a:ext cx="12192000" cy="3937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ACTIVE DIRECTORY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Organizacionais e Grupos de Segurança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41384" y="1179576"/>
            <a:ext cx="10108928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07_1215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80" y="1261872"/>
            <a:ext cx="9944336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Consola "Active Directory Users and Computers" (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domínio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istec.pt): OUs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criadas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— Fadinha123, RH,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Security_Department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, TI, Users — 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grupo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segurança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TI_access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dentro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da OU TI.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Estrutura do 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CC4EC90-645A-58A3-1389-ED914335505B}"/>
              </a:ext>
            </a:extLst>
          </p:cNvPr>
          <p:cNvSpPr/>
          <p:nvPr/>
        </p:nvSpPr>
        <p:spPr>
          <a:xfrm>
            <a:off x="2071893" y="3564686"/>
            <a:ext cx="1042381" cy="37319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ACTIVE DIRECTORY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 Criados por Departamento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794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1920240"/>
            <a:ext cx="1005840" cy="10058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6" name="Text 4"/>
          <p:cNvSpPr/>
          <p:nvPr/>
        </p:nvSpPr>
        <p:spPr>
          <a:xfrm>
            <a:off x="180594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shaoling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OU: Security_Department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9593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Security_access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de Segurança — acesso à partilha "Security"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520440" cy="3794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00700" y="1920240"/>
            <a:ext cx="1005840" cy="10058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13" name="Text 11"/>
          <p:cNvSpPr/>
          <p:nvPr/>
        </p:nvSpPr>
        <p:spPr>
          <a:xfrm>
            <a:off x="560070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526280" y="3108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splinter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36118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OU: RH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39593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RH_access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44348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 — acesso à partilha "RH"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520440" cy="3794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95460" y="1920240"/>
            <a:ext cx="1005840" cy="100584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20" name="Text 18"/>
          <p:cNvSpPr/>
          <p:nvPr/>
        </p:nvSpPr>
        <p:spPr>
          <a:xfrm>
            <a:off x="939546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321040" y="3108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silva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36118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OU: TI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39593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TI_access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44348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de Informação — acesso à partilha "TI"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Cada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foi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colocado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OU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correspondente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seu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departamento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associado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grupo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segurança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respetivo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garantindo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apenas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acede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à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partilha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SMB da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sua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área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Utilizadores do domínio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RELAÇÃO DE CONFIANÇA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de Confiança Entre Florestas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9009" y="1179576"/>
            <a:ext cx="9893678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305" y="1261872"/>
            <a:ext cx="9729086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Comando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netdom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query /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domain:istec.pt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trust":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confiança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direta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(Direct) 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bidirecional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(&lt;-&gt;) entre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domínios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istec.pt e istec-net.pt.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— Verificação via netdom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427F28-89CB-57A8-01B0-C84E38EBDB8C}"/>
              </a:ext>
            </a:extLst>
          </p:cNvPr>
          <p:cNvSpPr/>
          <p:nvPr/>
        </p:nvSpPr>
        <p:spPr>
          <a:xfrm>
            <a:off x="1634350" y="2766814"/>
            <a:ext cx="1711564" cy="33459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— Forwarders Configurados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3584" y="1179576"/>
            <a:ext cx="3964526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dns_forwarders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880" y="1261872"/>
            <a:ext cx="3799934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Propriedades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do DC01 (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separador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Forwarders):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pedidos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consegue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resolver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localmente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são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reencaminhados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para 8.8.8.8 e 1.1.1.1, com "Use root hints"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ativo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reserva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— Encaminhamento DNS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DHCP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de Endereço por DHCP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89834" y="1179576"/>
            <a:ext cx="6612026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dhcp_cl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130" y="1261872"/>
            <a:ext cx="6447434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"ipconfig /all" no PC01: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endereço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192.168.10.104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atribuído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pelo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DHCP 192.168.10.1, com gateway 192.168.10.254 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servidores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DNS 192.168.10.1 / 192.168.10.2.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— Cliente com IP por DHCP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412352D-8079-ED0E-9A0D-866E63BD1EDA}"/>
              </a:ext>
            </a:extLst>
          </p:cNvPr>
          <p:cNvSpPr/>
          <p:nvPr/>
        </p:nvSpPr>
        <p:spPr>
          <a:xfrm>
            <a:off x="5263381" y="4105180"/>
            <a:ext cx="1595744" cy="17126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55D2B5E-9E6E-8B5F-37B5-B73AA670166B}"/>
              </a:ext>
            </a:extLst>
          </p:cNvPr>
          <p:cNvSpPr/>
          <p:nvPr/>
        </p:nvSpPr>
        <p:spPr>
          <a:xfrm>
            <a:off x="5289119" y="4607067"/>
            <a:ext cx="849347" cy="24450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PARTILHAS SMB E NTFS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Raiz das Partilhas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20900" y="1179576"/>
            <a:ext cx="9549895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07_122632.png"/>
          <p:cNvPicPr>
            <a:picLocks noChangeAspect="1"/>
          </p:cNvPicPr>
          <p:nvPr/>
        </p:nvPicPr>
        <p:blipFill>
          <a:blip r:embed="rId3"/>
          <a:srcRect l="12761" t="20484" r="31554" b="2667"/>
          <a:stretch>
            <a:fillRect/>
          </a:stretch>
        </p:blipFill>
        <p:spPr>
          <a:xfrm>
            <a:off x="1483025" y="1187977"/>
            <a:ext cx="9384577" cy="4683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Pasta "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compartilhamentos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"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criada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C:\, base das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partilhas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departamento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(RH, Security, TI).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 — Estrutura de pastas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D4105AE-3287-A66E-6532-6B1E7939F860}"/>
              </a:ext>
            </a:extLst>
          </p:cNvPr>
          <p:cNvSpPr/>
          <p:nvPr/>
        </p:nvSpPr>
        <p:spPr>
          <a:xfrm>
            <a:off x="3603674" y="4499855"/>
            <a:ext cx="3731982" cy="18016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PARTILHAS SMB E NTFS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NTFS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6049" y="1179576"/>
            <a:ext cx="10499598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07_123533.png"/>
          <p:cNvPicPr>
            <a:picLocks noChangeAspect="1"/>
          </p:cNvPicPr>
          <p:nvPr/>
        </p:nvPicPr>
        <p:blipFill>
          <a:blip r:embed="rId3"/>
          <a:srcRect l="24140" t="9957" r="22656" b="-1567"/>
          <a:stretch>
            <a:fillRect/>
          </a:stretch>
        </p:blipFill>
        <p:spPr>
          <a:xfrm>
            <a:off x="1029945" y="1175723"/>
            <a:ext cx="10077842" cy="4596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Separador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Segurança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da pasta "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compartilhamentos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":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grupos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RH_access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e Administrators com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permissões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NTFS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definidas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(Full control, Modify, Read &amp; execute, List, Read, Write).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7 — Permissões NTFS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PARTILHAS SMB E NTFS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 Avançada da Pasta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6049" y="1179576"/>
            <a:ext cx="9439597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08_140324.png"/>
          <p:cNvPicPr>
            <a:picLocks noChangeAspect="1"/>
          </p:cNvPicPr>
          <p:nvPr/>
        </p:nvPicPr>
        <p:blipFill>
          <a:blip r:embed="rId3"/>
          <a:srcRect l="19249" t="6410" r="29890" b="2243"/>
          <a:stretch>
            <a:fillRect/>
          </a:stretch>
        </p:blipFill>
        <p:spPr>
          <a:xfrm>
            <a:off x="1378517" y="1174797"/>
            <a:ext cx="9427228" cy="46860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 pasta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foi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partilhada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rede com 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nome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compartilhamentos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" (\\DC01\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compartilhamentos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),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configurada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através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de Advanced Sharing.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8 — Partilha de rede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PARTILHAS SMB E NTFS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de Partilha por Grupo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00690" y="1179576"/>
            <a:ext cx="9390315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08_141258.png"/>
          <p:cNvPicPr>
            <a:picLocks noChangeAspect="1"/>
          </p:cNvPicPr>
          <p:nvPr/>
        </p:nvPicPr>
        <p:blipFill>
          <a:blip r:embed="rId3"/>
          <a:srcRect l="17028" t="17599" r="33752" b="-1567"/>
          <a:stretch>
            <a:fillRect/>
          </a:stretch>
        </p:blipFill>
        <p:spPr>
          <a:xfrm>
            <a:off x="1493345" y="1173463"/>
            <a:ext cx="9033053" cy="469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Cada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grupo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RH_access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Security_access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TI_access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recebeu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permissão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Read/Write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respetiva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subpasta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através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ecrã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"Network access".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9 — Permissões por grupo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VALIDAÇÃO DE PERMISSÕES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Acesso — Sucesso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99893" y="1179576"/>
            <a:ext cx="6591910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08_141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189" y="1261872"/>
            <a:ext cx="6427318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 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grupo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Security_access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foi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possível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criar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ficheiro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"teste_security.txt"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\\DC01\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compartilhamentos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\Security.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10 — Acesso permitido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VALIDAÇÃO DE PERMISSÕES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Acesso — Bloqueio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800296" y="1179576"/>
            <a:ext cx="6591103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08_14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592" y="1261872"/>
            <a:ext cx="6426511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tentar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aceder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à pasta RH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sem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pertencer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grupo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correto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, o Windows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bloqueia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acesso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confirmando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permissões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estão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corretamente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aplicadas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11 — Acesso negado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GROUP POLICY OBJECTS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da Consola de Gestão de GPOs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39296" y="1179576"/>
            <a:ext cx="10913103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16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92" y="1261872"/>
            <a:ext cx="10748511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 Group Policy Management Console (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gpmc.msc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) é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aberta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partir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do Server Manager, com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privilégios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administrativos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12 — Abrir GPMC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GROUP POLICY OBJECTS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GPOs do Domínio istec.pt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925815" y="1179576"/>
            <a:ext cx="8340065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21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111" y="1261872"/>
            <a:ext cx="8175473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domínio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tem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as GPOs "Default Domain Controllers Policy" e "Default Domain Policy", ambas com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estado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Enabled.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13 — GPOs existentes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25AD93A-801D-1DD9-3DE0-470FFF5608EB}"/>
              </a:ext>
            </a:extLst>
          </p:cNvPr>
          <p:cNvSpPr/>
          <p:nvPr/>
        </p:nvSpPr>
        <p:spPr>
          <a:xfrm>
            <a:off x="5495022" y="2728207"/>
            <a:ext cx="4285344" cy="54049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GROUP POLICY OBJECTS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Política — Drive Maps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77996" y="1179576"/>
            <a:ext cx="9235702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2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292" y="1261872"/>
            <a:ext cx="907111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Em User Configuration &gt; Preferences &gt; Windows Settings, 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funcionalidade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"Drive Maps"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mapear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unidades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de rede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automaticamente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utilizadores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14 — Editor de GPO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GROUP POLICY OBJECTS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da Nova Unidade de Rede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2698" y="1179576"/>
            <a:ext cx="10426300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3214.png"/>
          <p:cNvPicPr>
            <a:picLocks noChangeAspect="1"/>
          </p:cNvPicPr>
          <p:nvPr/>
        </p:nvPicPr>
        <p:blipFill>
          <a:blip r:embed="rId3"/>
          <a:srcRect l="17185" t="12854" r="28430" b="-1648"/>
          <a:stretch>
            <a:fillRect/>
          </a:stretch>
        </p:blipFill>
        <p:spPr>
          <a:xfrm>
            <a:off x="885166" y="1173463"/>
            <a:ext cx="10392265" cy="46866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Nova Drive Map com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ação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Update,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localização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\\192.168.10.1\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compartilhamentos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\Security 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letra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unidade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definida</a:t>
            </a:r>
            <a:r>
              <a:rPr lang="en-US" sz="14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15 — Definir a unidade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92CAFAB-2DBA-FEDC-096C-6F04510BB345}"/>
              </a:ext>
            </a:extLst>
          </p:cNvPr>
          <p:cNvSpPr/>
          <p:nvPr/>
        </p:nvSpPr>
        <p:spPr>
          <a:xfrm>
            <a:off x="6318631" y="1608612"/>
            <a:ext cx="5006003" cy="397649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GROUP POLICY OBJECTS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Targeting Ativado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75892" y="1179576"/>
            <a:ext cx="8439912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33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188" y="1261872"/>
            <a:ext cx="827532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separador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Common da Drive Map,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opção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"Item-level targeting" é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ativada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restringir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política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utilizadores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grupos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específicos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16 — Ativar targeting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GROUP POLICY OBJECTS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Destino — Security Group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913176" y="1179576"/>
            <a:ext cx="8365343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3353.png"/>
          <p:cNvPicPr>
            <a:picLocks noChangeAspect="1"/>
          </p:cNvPicPr>
          <p:nvPr/>
        </p:nvPicPr>
        <p:blipFill>
          <a:blip r:embed="rId3"/>
          <a:srcRect l="20442" t="-1472" r="19203" b="-1383"/>
          <a:stretch>
            <a:fillRect/>
          </a:stretch>
        </p:blipFill>
        <p:spPr>
          <a:xfrm>
            <a:off x="2060787" y="1180720"/>
            <a:ext cx="8222534" cy="46845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No Targeting Editor, 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critério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"Security Group"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garante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apenas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membros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grupo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correto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recebem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unidade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de rede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mapeada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17 — Critério de aplicação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FC5E5F7-EAA8-74D0-2AD1-4C07F1D5638B}"/>
              </a:ext>
            </a:extLst>
          </p:cNvPr>
          <p:cNvSpPr/>
          <p:nvPr/>
        </p:nvSpPr>
        <p:spPr>
          <a:xfrm>
            <a:off x="6407951" y="4801745"/>
            <a:ext cx="978036" cy="33459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VALIDAÇÃO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Forçada da Política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98175" y="1179576"/>
            <a:ext cx="6595345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3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471" y="1261872"/>
            <a:ext cx="6430753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"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gpupdate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/force" no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cliente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: Computer Policy e User Policy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atualizadas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com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sucesso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18 — Aplicar a GPO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VALIDAÇÃO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Manual de Acesso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809527" y="1179576"/>
            <a:ext cx="6572640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42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23" y="1261872"/>
            <a:ext cx="6408048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comando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"net use S: \\192.168.10.1\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compartilhamentos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\security"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confirma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acesso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direto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à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partilha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através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da rede.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19 — Confirmar via net use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F928B06-142F-7AE2-BD8F-50706F391998}"/>
              </a:ext>
            </a:extLst>
          </p:cNvPr>
          <p:cNvSpPr/>
          <p:nvPr/>
        </p:nvSpPr>
        <p:spPr>
          <a:xfrm>
            <a:off x="3075668" y="2239189"/>
            <a:ext cx="4542722" cy="463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VALIDAÇÃO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Unidade de Rede Mapeada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95924" y="1179576"/>
            <a:ext cx="6599847" cy="4690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5" name="Image 0" descr="/home/claude/img/Captura_de_ecrã_2026-07-10_0954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220" y="1261872"/>
            <a:ext cx="6435255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Em "Este PC", a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unidade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"security (\\192.168.10.1\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compartilhamentos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)"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aparece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automaticamente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Network locations —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resultado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final da GPO de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mapeamento</a:t>
            </a:r>
            <a:r>
              <a:rPr lang="en-US" sz="2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000" i="1" dirty="0" err="1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unidades</a:t>
            </a:r>
            <a:r>
              <a:rPr lang="en-US" sz="14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20 — Resultado final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Secções a completar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956816"/>
            <a:ext cx="146304" cy="146304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5" name="Text 3"/>
          <p:cNvSpPr/>
          <p:nvPr/>
        </p:nvSpPr>
        <p:spPr>
          <a:xfrm>
            <a:off x="1170432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— Conditional Forwarders por domínio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578608"/>
            <a:ext cx="146304" cy="146304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4963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Failover (configuração no servidor)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200400"/>
            <a:ext cx="146304" cy="146304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311810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 (FSRM) e File Screening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822192"/>
            <a:ext cx="146304" cy="146304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7398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Backup e restauro de ficheiros / System State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4443984"/>
            <a:ext cx="146304" cy="146304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3616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 Replica — Replication Health, Test/Planned Failover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5065776"/>
            <a:ext cx="146304" cy="146304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 de uma VM entre hosts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83387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as capturas de ecrã correspondentes a estas secções, seguindo o mesmo formato (título, imagem, legenda descritiva).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24</Slides>
  <Notes>24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89</cp:revision>
  <dcterms:created xsi:type="dcterms:W3CDTF">2026-07-14T07:38:07Z</dcterms:created>
  <dcterms:modified xsi:type="dcterms:W3CDTF">2026-07-17T07:34:45Z</dcterms:modified>
</cp:coreProperties>
</file>